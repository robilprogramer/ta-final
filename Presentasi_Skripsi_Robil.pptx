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4989" y="1255514"/>
            <a:ext cx="7034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1500"/>
              </a:spcAft>
              <a:buNone/>
            </a:pPr>
            <a:r>
              <a:rPr lang="en-US" sz="825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SIDANG SKRIPSI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1054989" y="1592610"/>
            <a:ext cx="7034022" cy="965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35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CHATBOT BERBASIS LARGE LANGUAGE MODEL DENGAN RETRIEVAL AUGMENTED GENERATION PADA YAYASAN PESANTREN ISLAM AL-AZHAR JAKARTA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095750" y="2748855"/>
            <a:ext cx="9525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4989" y="2967930"/>
            <a:ext cx="70340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500"/>
              </a:spcBef>
              <a:spcAft>
                <a:spcPts val="375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4989" y="3202186"/>
            <a:ext cx="7034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15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NIM: 0102524719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4989" y="3552676"/>
            <a:ext cx="7034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125"/>
              </a:spcBef>
              <a:spcAft>
                <a:spcPts val="225"/>
              </a:spcAft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Dosen Pembimbing: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054989" y="3727847"/>
            <a:ext cx="7034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Denny Hermawan, S.T., M.Kom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0025" y="4636889"/>
            <a:ext cx="8743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Studi Teknik Informatika • Fakultas Sains dan Teknologi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200025" y="4785420"/>
            <a:ext cx="8743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Al-Azhar Indonesia • Januari 2026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595313"/>
            <a:ext cx="1141363" cy="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8125" y="238125"/>
            <a:ext cx="11641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Isi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38125" y="215741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9626" y="2210693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9125" y="2204145"/>
            <a:ext cx="8496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38125" y="251936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9626" y="2572643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9125" y="2566095"/>
            <a:ext cx="11092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Identifikasi Masalah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38125" y="288131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9626" y="2934593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9125" y="2928045"/>
            <a:ext cx="10530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38125" y="324326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9626" y="3296543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9125" y="3289995"/>
            <a:ext cx="9713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Penelitian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684365" y="215741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85866" y="2210693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65365" y="2204145"/>
            <a:ext cx="12077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 Penelitian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684365" y="251936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85866" y="2572643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65365" y="2566095"/>
            <a:ext cx="14389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&amp; Implementasi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684365" y="288131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85866" y="2934593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65365" y="2928045"/>
            <a:ext cx="9126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&amp; Evaluasi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684365" y="324326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5866" y="3296543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65365" y="3289995"/>
            <a:ext cx="11514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&amp; Saran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557213"/>
            <a:ext cx="1775520" cy="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8125" y="238125"/>
            <a:ext cx="18110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1950" dirty="0"/>
          </a:p>
        </p:txBody>
      </p:sp>
      <p:pic>
        <p:nvPicPr>
          <p:cNvPr id="4" name="Image 0" descr="/tmp/rasterized-gradient-09f88c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838200"/>
            <a:ext cx="1993553" cy="6838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4775" y="952500"/>
            <a:ext cx="180025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220+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334775" y="1274415"/>
            <a:ext cx="1800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Pendidikan</a:t>
            </a:r>
            <a:endParaRPr lang="en-US" sz="750" dirty="0"/>
          </a:p>
        </p:txBody>
      </p:sp>
      <p:pic>
        <p:nvPicPr>
          <p:cNvPr id="7" name="Image 1" descr="/tmp/rasterized-gradient-33dc04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928" y="838200"/>
            <a:ext cx="1993553" cy="6838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23578" y="952500"/>
            <a:ext cx="180025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57.906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2423578" y="1274415"/>
            <a:ext cx="1800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Peserta Didik</a:t>
            </a:r>
            <a:endParaRPr lang="en-US" sz="750" dirty="0"/>
          </a:p>
        </p:txBody>
      </p:sp>
      <p:pic>
        <p:nvPicPr>
          <p:cNvPr id="10" name="Image 2" descr="/tmp/rasterized-gradient-501eedc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730" y="838200"/>
            <a:ext cx="1993553" cy="6838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12381" y="952500"/>
            <a:ext cx="180025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7.756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4512381" y="1274415"/>
            <a:ext cx="1800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000000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Tenaga Pendidik</a:t>
            </a:r>
            <a:endParaRPr lang="en-US" sz="750" dirty="0"/>
          </a:p>
        </p:txBody>
      </p:sp>
      <p:pic>
        <p:nvPicPr>
          <p:cNvPr id="13" name="Image 3" descr="/tmp/rasterized-gradient-ea3b981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533" y="838200"/>
            <a:ext cx="1993553" cy="6838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01184" y="952500"/>
            <a:ext cx="180025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6601184" y="1274415"/>
            <a:ext cx="1800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Provinsi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238125" y="2209800"/>
            <a:ext cx="4160490" cy="2026890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1"/>
          <p:cNvSpPr/>
          <p:nvPr/>
        </p:nvSpPr>
        <p:spPr>
          <a:xfrm>
            <a:off x="257175" y="2209800"/>
            <a:ext cx="0" cy="202689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90525" y="2324100"/>
            <a:ext cx="39716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390525" y="2560290"/>
            <a:ext cx="3893790" cy="1562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Layanan manual terbatas waktu operasional (jam kerja)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Informasi tersebar di berbagai platform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Inkonsistensi respons antar petugas CS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 skalabilitas layanan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541490" y="2343150"/>
            <a:ext cx="4160490" cy="176019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4560540" y="2343150"/>
            <a:ext cx="0" cy="1760190"/>
          </a:xfrm>
          <a:prstGeom prst="line">
            <a:avLst/>
          </a:prstGeom>
          <a:noFill/>
          <a:ln w="38100">
            <a:solidFill>
              <a:srgbClr val="1B5E2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693890" y="2457450"/>
            <a:ext cx="39716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693890" y="2693640"/>
            <a:ext cx="3893790" cy="1295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chatbot berbasis LLM + RAG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mode: Informasional &amp; Transaksional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 konsisten dan akurat 24/7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Pembelajaran adaptif otomatis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557213"/>
            <a:ext cx="2339876" cy="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8125" y="238125"/>
            <a:ext cx="23866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Identifikasi Masalah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38125" y="1757363"/>
            <a:ext cx="266700" cy="350490"/>
          </a:xfrm>
          <a:prstGeom prst="roundRect">
            <a:avLst>
              <a:gd name="adj" fmla="val 14286"/>
            </a:avLst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4268" y="183921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19125" y="1757363"/>
            <a:ext cx="8286750" cy="350490"/>
          </a:xfrm>
          <a:prstGeom prst="roundRect">
            <a:avLst>
              <a:gd name="adj" fmla="val 10870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2475" y="1852612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 waktu operasional layanan customer service yang hanya tersedia pada jam kerja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8125" y="2203103"/>
            <a:ext cx="266700" cy="350490"/>
          </a:xfrm>
          <a:prstGeom prst="roundRect">
            <a:avLst>
              <a:gd name="adj" fmla="val 14286"/>
            </a:avLst>
          </a:prstGeom>
          <a:solidFill>
            <a:srgbClr val="F57C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4268" y="228495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9125" y="2203103"/>
            <a:ext cx="8286750" cy="350490"/>
          </a:xfrm>
          <a:prstGeom prst="roundRect">
            <a:avLst>
              <a:gd name="adj" fmla="val 1087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2475" y="2298353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dan informasi tersebar di berbagai platform sehingga menyulitkan akses informasi yang cepat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8125" y="2648843"/>
            <a:ext cx="266700" cy="35049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4268" y="273069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9125" y="2648843"/>
            <a:ext cx="8286750" cy="350490"/>
          </a:xfrm>
          <a:prstGeom prst="roundRect">
            <a:avLst>
              <a:gd name="adj" fmla="val 1087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2475" y="2744093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tersedia sistem chatbot berbasis LLM yang terintegrasi dengan knowledge base institusi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8125" y="3094583"/>
            <a:ext cx="266700" cy="350490"/>
          </a:xfrm>
          <a:prstGeom prst="roundRect">
            <a:avLst>
              <a:gd name="adj" fmla="val 14286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4268" y="3176439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9125" y="3094583"/>
            <a:ext cx="8286750" cy="350490"/>
          </a:xfrm>
          <a:prstGeom prst="roundRect">
            <a:avLst>
              <a:gd name="adj" fmla="val 10870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2475" y="3189833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adanya mekanisme pembelajaran adaptif untuk pembaruan knowledge base secara otomatis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8125" y="3540323"/>
            <a:ext cx="266700" cy="350490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4268" y="3622179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9125" y="3540323"/>
            <a:ext cx="8286750" cy="350490"/>
          </a:xfrm>
          <a:prstGeom prst="roundRect">
            <a:avLst>
              <a:gd name="adj" fmla="val 1087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2475" y="3635573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Kendala dalam proses pendaftaran siswa baru yang masih memerlukan interaksi langsung dengan petugas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557213"/>
            <a:ext cx="2174528" cy="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8125" y="238125"/>
            <a:ext cx="22180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</a:t>
            </a:r>
            <a:endParaRPr lang="en-US" sz="1950" dirty="0"/>
          </a:p>
        </p:txBody>
      </p:sp>
      <p:pic>
        <p:nvPicPr>
          <p:cNvPr id="4" name="Image 0" descr="/tmp/rasterized-gradient-b22888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1795463"/>
            <a:ext cx="8667750" cy="350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9575" y="1890713"/>
            <a:ext cx="8530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RM1: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Bagaimana merancang dan mengimplementasikan sistem chatbot berbasis LLM dengan arsitektur RAG?</a:t>
            </a:r>
            <a:endParaRPr lang="en-US" sz="900" dirty="0"/>
          </a:p>
        </p:txBody>
      </p:sp>
      <p:pic>
        <p:nvPicPr>
          <p:cNvPr id="6" name="Image 1" descr="/tmp/rasterized-gradient-e76a7b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2222153"/>
            <a:ext cx="8667750" cy="3504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9575" y="2317403"/>
            <a:ext cx="8530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RM2: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Bagaimana menerapkan mekanisme pembelajaran adaptif multimodal untuk pembaruan knowledge base?</a:t>
            </a:r>
            <a:endParaRPr lang="en-US" sz="900" dirty="0"/>
          </a:p>
        </p:txBody>
      </p:sp>
      <p:pic>
        <p:nvPicPr>
          <p:cNvPr id="8" name="Image 2" descr="/tmp/rasterized-gradient-1ce186c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2648843"/>
            <a:ext cx="8667750" cy="3504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9575" y="2744093"/>
            <a:ext cx="8530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RM3: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Bagaimana mengintegrasikan data pipeline dengan vector database untuk retrieval yang efektif?</a:t>
            </a:r>
            <a:endParaRPr lang="en-US" sz="900" dirty="0"/>
          </a:p>
        </p:txBody>
      </p:sp>
      <p:pic>
        <p:nvPicPr>
          <p:cNvPr id="10" name="Image 3" descr="/tmp/rasterized-gradient-bbe6d36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3075533"/>
            <a:ext cx="8667750" cy="3504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09575" y="3170783"/>
            <a:ext cx="8530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RM4: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Bagaimana mengembangkan fitur transaksional untuk pendaftaran siswa baru secara terintegrasi?</a:t>
            </a:r>
            <a:endParaRPr lang="en-US" sz="900" dirty="0"/>
          </a:p>
        </p:txBody>
      </p:sp>
      <p:pic>
        <p:nvPicPr>
          <p:cNvPr id="12" name="Image 4" descr="/tmp/rasterized-gradient-b25f1b5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" y="3502223"/>
            <a:ext cx="8667750" cy="35049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09575" y="3597473"/>
            <a:ext cx="8530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RM5: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Bagaimana mengukur dan mengevaluasi performa sistem chatbot berdasarkan metrik yang relevan?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557213"/>
            <a:ext cx="2031950" cy="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8125" y="238125"/>
            <a:ext cx="20725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Penelitian</a:t>
            </a:r>
            <a:endParaRPr lang="en-US" sz="1950" dirty="0"/>
          </a:p>
        </p:txBody>
      </p:sp>
      <p:pic>
        <p:nvPicPr>
          <p:cNvPr id="4" name="Image 0" descr="/tmp/rasterized-gradient-896f6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1795463"/>
            <a:ext cx="342900" cy="350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4474" y="1864072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76275" y="1795463"/>
            <a:ext cx="8229600" cy="350490"/>
          </a:xfrm>
          <a:prstGeom prst="roundRect">
            <a:avLst>
              <a:gd name="adj" fmla="val 163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09625" y="1890713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Merancang dan mengimplementasikan sistem chatbot berbasis LLM dengan arsitektur RAG</a:t>
            </a:r>
            <a:endParaRPr lang="en-US" sz="900" dirty="0"/>
          </a:p>
        </p:txBody>
      </p:sp>
      <p:pic>
        <p:nvPicPr>
          <p:cNvPr id="8" name="Image 1" descr="/tmp/rasterized-gradient-bb3257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2222153"/>
            <a:ext cx="342900" cy="3504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4474" y="2290763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76275" y="2222153"/>
            <a:ext cx="8229600" cy="350490"/>
          </a:xfrm>
          <a:prstGeom prst="roundRect">
            <a:avLst>
              <a:gd name="adj" fmla="val 163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809625" y="2317403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Menerapkan mekanisme pembelajaran adaptif multimodal untuk pembaruan knowledge base otomatis</a:t>
            </a:r>
            <a:endParaRPr lang="en-US" sz="900" dirty="0"/>
          </a:p>
        </p:txBody>
      </p:sp>
      <p:pic>
        <p:nvPicPr>
          <p:cNvPr id="12" name="Image 2" descr="/tmp/rasterized-gradient-1ff320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2648843"/>
            <a:ext cx="342900" cy="3504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4474" y="2717453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76275" y="2648843"/>
            <a:ext cx="8229600" cy="350490"/>
          </a:xfrm>
          <a:prstGeom prst="roundRect">
            <a:avLst>
              <a:gd name="adj" fmla="val 163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809625" y="2744093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Mengintegrasikan data pipeline dengan vector database ChromaDB untuk retrieval efektif</a:t>
            </a:r>
            <a:endParaRPr lang="en-US" sz="900" dirty="0"/>
          </a:p>
        </p:txBody>
      </p:sp>
      <p:pic>
        <p:nvPicPr>
          <p:cNvPr id="16" name="Image 3" descr="/tmp/rasterized-gradient-5596a82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3075533"/>
            <a:ext cx="342900" cy="35049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4474" y="3144143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76275" y="3075533"/>
            <a:ext cx="8229600" cy="350490"/>
          </a:xfrm>
          <a:prstGeom prst="roundRect">
            <a:avLst>
              <a:gd name="adj" fmla="val 163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809625" y="3170783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Mengembangkan fitur transaksional untuk pendaftaran siswa baru secara terintegrasi</a:t>
            </a:r>
            <a:endParaRPr lang="en-US" sz="900" dirty="0"/>
          </a:p>
        </p:txBody>
      </p:sp>
      <p:pic>
        <p:nvPicPr>
          <p:cNvPr id="20" name="Image 4" descr="/tmp/rasterized-gradient-fb96888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" y="3502223"/>
            <a:ext cx="342900" cy="35049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14474" y="3570833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676275" y="3502223"/>
            <a:ext cx="8229600" cy="350490"/>
          </a:xfrm>
          <a:prstGeom prst="roundRect">
            <a:avLst>
              <a:gd name="adj" fmla="val 163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809625" y="3597473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Mengukur dan mengevaluasi performa sistem dengan metrik precision, recall, dan response quality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528638"/>
            <a:ext cx="2362200" cy="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8125" y="238125"/>
            <a:ext cx="2409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 Penelitian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57215" y="790575"/>
            <a:ext cx="1966912" cy="260896"/>
          </a:xfrm>
          <a:prstGeom prst="roundRect">
            <a:avLst>
              <a:gd name="adj" fmla="val 73018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90565" y="847725"/>
            <a:ext cx="1734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(Research and Development)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000327" y="790575"/>
            <a:ext cx="1186309" cy="260896"/>
          </a:xfrm>
          <a:prstGeom prst="roundRect">
            <a:avLst>
              <a:gd name="adj" fmla="val 73018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33677" y="847725"/>
            <a:ext cx="9380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Prototyping</a:t>
            </a:r>
            <a:endParaRPr lang="en-US" sz="825" dirty="0"/>
          </a:p>
        </p:txBody>
      </p:sp>
      <p:pic>
        <p:nvPicPr>
          <p:cNvPr id="8" name="Image 0" descr="/tmp/rasterized-gradient-19e995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25" y="1146721"/>
            <a:ext cx="1524000" cy="6607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0140" y="1241971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1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1120140" y="1417141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1120140" y="1592312"/>
            <a:ext cx="1360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 &amp; Studi Literatur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2638425" y="1357164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pic>
        <p:nvPicPr>
          <p:cNvPr id="13" name="Image 1" descr="/tmp/rasterized-gradient-ccc2e33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075" y="1146721"/>
            <a:ext cx="1524000" cy="66079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67990" y="1241971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2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2967990" y="1417141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Perancangan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2967990" y="1592312"/>
            <a:ext cx="1360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&amp; UI/UX</a:t>
            </a:r>
            <a:endParaRPr lang="en-US" sz="675" dirty="0"/>
          </a:p>
        </p:txBody>
      </p:sp>
      <p:sp>
        <p:nvSpPr>
          <p:cNvPr id="17" name="Text 13"/>
          <p:cNvSpPr/>
          <p:nvPr/>
        </p:nvSpPr>
        <p:spPr>
          <a:xfrm>
            <a:off x="4486275" y="1357164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pic>
        <p:nvPicPr>
          <p:cNvPr id="18" name="Image 2" descr="/tmp/rasterized-gradient-06c10c7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925" y="1146721"/>
            <a:ext cx="1524000" cy="66079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15840" y="1241971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3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4815840" y="1417141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4815840" y="1592312"/>
            <a:ext cx="1360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Sistem</a:t>
            </a:r>
            <a:endParaRPr lang="en-US" sz="675" dirty="0"/>
          </a:p>
        </p:txBody>
      </p:sp>
      <p:sp>
        <p:nvSpPr>
          <p:cNvPr id="22" name="Text 17"/>
          <p:cNvSpPr/>
          <p:nvPr/>
        </p:nvSpPr>
        <p:spPr>
          <a:xfrm>
            <a:off x="6334125" y="1357164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pic>
        <p:nvPicPr>
          <p:cNvPr id="23" name="Image 3" descr="/tmp/rasterized-gradient-372bd0e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1146721"/>
            <a:ext cx="1524000" cy="66079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63690" y="1241971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4</a:t>
            </a:r>
            <a:endParaRPr lang="en-US" sz="825" dirty="0"/>
          </a:p>
        </p:txBody>
      </p:sp>
      <p:sp>
        <p:nvSpPr>
          <p:cNvPr id="25" name="Text 19"/>
          <p:cNvSpPr/>
          <p:nvPr/>
        </p:nvSpPr>
        <p:spPr>
          <a:xfrm>
            <a:off x="6663690" y="1417141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Pengujian</a:t>
            </a:r>
            <a:endParaRPr lang="en-US" sz="825" dirty="0"/>
          </a:p>
        </p:txBody>
      </p:sp>
      <p:sp>
        <p:nvSpPr>
          <p:cNvPr id="26" name="Text 20"/>
          <p:cNvSpPr/>
          <p:nvPr/>
        </p:nvSpPr>
        <p:spPr>
          <a:xfrm>
            <a:off x="6663690" y="1592312"/>
            <a:ext cx="1360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Validasi</a:t>
            </a:r>
            <a:endParaRPr lang="en-US" sz="675" dirty="0"/>
          </a:p>
        </p:txBody>
      </p:sp>
      <p:sp>
        <p:nvSpPr>
          <p:cNvPr id="27" name="Text 21"/>
          <p:cNvSpPr/>
          <p:nvPr/>
        </p:nvSpPr>
        <p:spPr>
          <a:xfrm>
            <a:off x="238125" y="3094583"/>
            <a:ext cx="4160490" cy="571351"/>
          </a:xfrm>
          <a:prstGeom prst="roundRect">
            <a:avLst>
              <a:gd name="adj" fmla="val 1333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333375" y="3189833"/>
            <a:ext cx="40493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825" dirty="0"/>
          </a:p>
        </p:txBody>
      </p:sp>
      <p:sp>
        <p:nvSpPr>
          <p:cNvPr id="29" name="Text 23"/>
          <p:cNvSpPr/>
          <p:nvPr/>
        </p:nvSpPr>
        <p:spPr>
          <a:xfrm>
            <a:off x="333375" y="3393579"/>
            <a:ext cx="419398" cy="177105"/>
          </a:xfrm>
          <a:prstGeom prst="roundRect">
            <a:avLst>
              <a:gd name="adj" fmla="val 21513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09575" y="3422154"/>
            <a:ext cx="272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675" dirty="0"/>
          </a:p>
        </p:txBody>
      </p:sp>
      <p:sp>
        <p:nvSpPr>
          <p:cNvPr id="31" name="Text 25"/>
          <p:cNvSpPr/>
          <p:nvPr/>
        </p:nvSpPr>
        <p:spPr>
          <a:xfrm>
            <a:off x="790873" y="3393579"/>
            <a:ext cx="457349" cy="177105"/>
          </a:xfrm>
          <a:prstGeom prst="roundRect">
            <a:avLst>
              <a:gd name="adj" fmla="val 21513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867073" y="3422154"/>
            <a:ext cx="3110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675" dirty="0"/>
          </a:p>
        </p:txBody>
      </p:sp>
      <p:sp>
        <p:nvSpPr>
          <p:cNvPr id="33" name="Text 27"/>
          <p:cNvSpPr/>
          <p:nvPr/>
        </p:nvSpPr>
        <p:spPr>
          <a:xfrm>
            <a:off x="1286321" y="3393579"/>
            <a:ext cx="633561" cy="177105"/>
          </a:xfrm>
          <a:prstGeom prst="roundRect">
            <a:avLst>
              <a:gd name="adj" fmla="val 21513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1362521" y="3422154"/>
            <a:ext cx="4907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</a:t>
            </a:r>
            <a:endParaRPr lang="en-US" sz="675" dirty="0"/>
          </a:p>
        </p:txBody>
      </p:sp>
      <p:sp>
        <p:nvSpPr>
          <p:cNvPr id="35" name="Text 29"/>
          <p:cNvSpPr/>
          <p:nvPr/>
        </p:nvSpPr>
        <p:spPr>
          <a:xfrm>
            <a:off x="1957983" y="3393579"/>
            <a:ext cx="576411" cy="177105"/>
          </a:xfrm>
          <a:prstGeom prst="roundRect">
            <a:avLst>
              <a:gd name="adj" fmla="val 21513"/>
            </a:avLst>
          </a:prstGeom>
          <a:solidFill>
            <a:srgbClr val="F57C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2034183" y="3422154"/>
            <a:ext cx="4324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675" dirty="0"/>
          </a:p>
        </p:txBody>
      </p:sp>
      <p:sp>
        <p:nvSpPr>
          <p:cNvPr id="37" name="Text 31"/>
          <p:cNvSpPr/>
          <p:nvPr/>
        </p:nvSpPr>
        <p:spPr>
          <a:xfrm>
            <a:off x="2572494" y="3393579"/>
            <a:ext cx="619423" cy="177105"/>
          </a:xfrm>
          <a:prstGeom prst="roundRect">
            <a:avLst>
              <a:gd name="adj" fmla="val 21513"/>
            </a:avLst>
          </a:prstGeom>
          <a:solidFill>
            <a:srgbClr val="0D47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2648694" y="3422154"/>
            <a:ext cx="47636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675" dirty="0"/>
          </a:p>
        </p:txBody>
      </p:sp>
      <p:sp>
        <p:nvSpPr>
          <p:cNvPr id="39" name="Text 33"/>
          <p:cNvSpPr/>
          <p:nvPr/>
        </p:nvSpPr>
        <p:spPr>
          <a:xfrm>
            <a:off x="3230017" y="3393579"/>
            <a:ext cx="414486" cy="177105"/>
          </a:xfrm>
          <a:prstGeom prst="roundRect">
            <a:avLst>
              <a:gd name="adj" fmla="val 21513"/>
            </a:avLst>
          </a:prstGeom>
          <a:solidFill>
            <a:srgbClr val="007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3306217" y="3422154"/>
            <a:ext cx="2673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675" dirty="0"/>
          </a:p>
        </p:txBody>
      </p:sp>
      <p:sp>
        <p:nvSpPr>
          <p:cNvPr id="41" name="Text 35"/>
          <p:cNvSpPr/>
          <p:nvPr/>
        </p:nvSpPr>
        <p:spPr>
          <a:xfrm>
            <a:off x="3682603" y="3393579"/>
            <a:ext cx="376386" cy="177105"/>
          </a:xfrm>
          <a:prstGeom prst="roundRect">
            <a:avLst>
              <a:gd name="adj" fmla="val 21513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3758803" y="3422154"/>
            <a:ext cx="2284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675" dirty="0"/>
          </a:p>
        </p:txBody>
      </p:sp>
      <p:sp>
        <p:nvSpPr>
          <p:cNvPr id="43" name="Text 37"/>
          <p:cNvSpPr/>
          <p:nvPr/>
        </p:nvSpPr>
        <p:spPr>
          <a:xfrm>
            <a:off x="4512915" y="2564011"/>
            <a:ext cx="4160490" cy="1632496"/>
          </a:xfrm>
          <a:prstGeom prst="roundRect">
            <a:avLst>
              <a:gd name="adj" fmla="val 466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4608165" y="2659261"/>
            <a:ext cx="40493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Teknik Pengujian</a:t>
            </a:r>
            <a:endParaRPr lang="en-US" sz="825" dirty="0"/>
          </a:p>
        </p:txBody>
      </p:sp>
      <p:sp>
        <p:nvSpPr>
          <p:cNvPr id="45" name="Text 39"/>
          <p:cNvSpPr/>
          <p:nvPr/>
        </p:nvSpPr>
        <p:spPr>
          <a:xfrm>
            <a:off x="4608165" y="2863007"/>
            <a:ext cx="3969990" cy="12382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Testing (API Endpoints)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Testing (Mode Switching)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Testing (Query Handling)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Performance (Precision, Recall, F1)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528638"/>
            <a:ext cx="1893094" cy="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8125" y="238125"/>
            <a:ext cx="1930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8125" y="581025"/>
            <a:ext cx="88411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Architecture dengan RAG Integration</a:t>
            </a:r>
            <a:endParaRPr lang="en-US" sz="825" dirty="0"/>
          </a:p>
        </p:txBody>
      </p:sp>
      <p:pic>
        <p:nvPicPr>
          <p:cNvPr id="5" name="Image 0" descr="/tmp/rasterized-gradient-6839f4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2050703"/>
            <a:ext cx="2600325" cy="5200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2425" y="2165003"/>
            <a:ext cx="2419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Data Ingestion Service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52425" y="2336453"/>
            <a:ext cx="24191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&amp; validasi dokumen multiformat (PDF, DOCX, TXT)</a:t>
            </a:r>
            <a:endParaRPr lang="en-US" sz="675" dirty="0"/>
          </a:p>
        </p:txBody>
      </p:sp>
      <p:pic>
        <p:nvPicPr>
          <p:cNvPr id="8" name="Image 1" descr="/tmp/rasterized-gradient-0fe121d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2646908"/>
            <a:ext cx="2600325" cy="5200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2425" y="2761208"/>
            <a:ext cx="2419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Processing Pipeline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52425" y="2932658"/>
            <a:ext cx="24191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extraction, content rewriting, chunking (512 tokens)</a:t>
            </a:r>
            <a:endParaRPr lang="en-US" sz="675" dirty="0"/>
          </a:p>
        </p:txBody>
      </p:sp>
      <p:pic>
        <p:nvPicPr>
          <p:cNvPr id="11" name="Image 2" descr="/tmp/rasterized-gradient-407e3e7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3243114"/>
            <a:ext cx="2600325" cy="5200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425" y="3357414"/>
            <a:ext cx="2419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Adaptive Learning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352425" y="3528864"/>
            <a:ext cx="24191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embedding &amp; automatic knowledge update</a:t>
            </a:r>
            <a:endParaRPr lang="en-US" sz="675" dirty="0"/>
          </a:p>
        </p:txBody>
      </p:sp>
      <p:pic>
        <p:nvPicPr>
          <p:cNvPr id="14" name="Image 3" descr="/tmp/rasterized-gradient-190a74f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50" y="1952774"/>
            <a:ext cx="3293715" cy="65320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055830" y="2086124"/>
            <a:ext cx="3087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RAG Engine + LLM Integration</a:t>
            </a:r>
            <a:endParaRPr lang="en-US" sz="825" dirty="0"/>
          </a:p>
        </p:txBody>
      </p:sp>
      <p:sp>
        <p:nvSpPr>
          <p:cNvPr id="16" name="Text 10"/>
          <p:cNvSpPr/>
          <p:nvPr/>
        </p:nvSpPr>
        <p:spPr>
          <a:xfrm>
            <a:off x="3504902" y="2289870"/>
            <a:ext cx="758130" cy="182761"/>
          </a:xfrm>
          <a:prstGeom prst="roundRect">
            <a:avLst>
              <a:gd name="adj" fmla="val 20847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3581102" y="2327970"/>
            <a:ext cx="61784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Processing</a:t>
            </a:r>
            <a:endParaRPr lang="en-US" sz="600" dirty="0"/>
          </a:p>
        </p:txBody>
      </p:sp>
      <p:sp>
        <p:nvSpPr>
          <p:cNvPr id="18" name="Text 12"/>
          <p:cNvSpPr/>
          <p:nvPr/>
        </p:nvSpPr>
        <p:spPr>
          <a:xfrm>
            <a:off x="4320183" y="2289870"/>
            <a:ext cx="736848" cy="182761"/>
          </a:xfrm>
          <a:prstGeom prst="roundRect">
            <a:avLst>
              <a:gd name="adj" fmla="val 20847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4396383" y="2327970"/>
            <a:ext cx="59613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Retrieval</a:t>
            </a:r>
            <a:endParaRPr lang="en-US" sz="600" dirty="0"/>
          </a:p>
        </p:txBody>
      </p:sp>
      <p:sp>
        <p:nvSpPr>
          <p:cNvPr id="20" name="Text 14"/>
          <p:cNvSpPr/>
          <p:nvPr/>
        </p:nvSpPr>
        <p:spPr>
          <a:xfrm>
            <a:off x="5114181" y="2289870"/>
            <a:ext cx="580132" cy="182761"/>
          </a:xfrm>
          <a:prstGeom prst="roundRect">
            <a:avLst>
              <a:gd name="adj" fmla="val 20847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5190381" y="2327970"/>
            <a:ext cx="43628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</a:t>
            </a:r>
            <a:endParaRPr lang="en-US" sz="600" dirty="0"/>
          </a:p>
        </p:txBody>
      </p:sp>
      <p:pic>
        <p:nvPicPr>
          <p:cNvPr id="22" name="Image 4" descr="/tmp/rasterized-gradient-14d62ff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2750" y="2682180"/>
            <a:ext cx="3293715" cy="65320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055830" y="2815530"/>
            <a:ext cx="3087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Transactional Module</a:t>
            </a:r>
            <a:endParaRPr lang="en-US" sz="825" dirty="0"/>
          </a:p>
        </p:txBody>
      </p:sp>
      <p:sp>
        <p:nvSpPr>
          <p:cNvPr id="24" name="Text 17"/>
          <p:cNvSpPr/>
          <p:nvPr/>
        </p:nvSpPr>
        <p:spPr>
          <a:xfrm>
            <a:off x="3541514" y="3019276"/>
            <a:ext cx="757982" cy="182761"/>
          </a:xfrm>
          <a:prstGeom prst="roundRect">
            <a:avLst>
              <a:gd name="adj" fmla="val 20847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3617714" y="3057376"/>
            <a:ext cx="6176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Form</a:t>
            </a:r>
            <a:endParaRPr lang="en-US" sz="600" dirty="0"/>
          </a:p>
        </p:txBody>
      </p:sp>
      <p:sp>
        <p:nvSpPr>
          <p:cNvPr id="26" name="Text 19"/>
          <p:cNvSpPr/>
          <p:nvPr/>
        </p:nvSpPr>
        <p:spPr>
          <a:xfrm>
            <a:off x="4356646" y="3019276"/>
            <a:ext cx="762446" cy="182761"/>
          </a:xfrm>
          <a:prstGeom prst="roundRect">
            <a:avLst>
              <a:gd name="adj" fmla="val 20847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4432846" y="3057376"/>
            <a:ext cx="6222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Upload</a:t>
            </a:r>
            <a:endParaRPr lang="en-US" sz="600" dirty="0"/>
          </a:p>
        </p:txBody>
      </p:sp>
      <p:sp>
        <p:nvSpPr>
          <p:cNvPr id="28" name="Text 21"/>
          <p:cNvSpPr/>
          <p:nvPr/>
        </p:nvSpPr>
        <p:spPr>
          <a:xfrm>
            <a:off x="5176242" y="3019276"/>
            <a:ext cx="481459" cy="182761"/>
          </a:xfrm>
          <a:prstGeom prst="roundRect">
            <a:avLst>
              <a:gd name="adj" fmla="val 20847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5252442" y="3057376"/>
            <a:ext cx="335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600" dirty="0"/>
          </a:p>
        </p:txBody>
      </p:sp>
      <p:sp>
        <p:nvSpPr>
          <p:cNvPr id="30" name="Text 23"/>
          <p:cNvSpPr/>
          <p:nvPr/>
        </p:nvSpPr>
        <p:spPr>
          <a:xfrm>
            <a:off x="2952750" y="3411587"/>
            <a:ext cx="3293715" cy="449461"/>
          </a:xfrm>
          <a:prstGeom prst="roundRect">
            <a:avLst>
              <a:gd name="adj" fmla="val 16954"/>
            </a:avLst>
          </a:prstGeom>
          <a:solidFill>
            <a:srgbClr val="F5F5F5"/>
          </a:solidFill>
          <a:ln w="19050">
            <a:solidFill>
              <a:srgbClr val="6666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3016968" y="3506837"/>
            <a:ext cx="31652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Conversation Orchestrator</a:t>
            </a: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3016968" y="3659237"/>
            <a:ext cx="316528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mode switching &amp; state management</a:t>
            </a:r>
            <a:endParaRPr lang="en-US" sz="600" dirty="0"/>
          </a:p>
        </p:txBody>
      </p:sp>
      <p:pic>
        <p:nvPicPr>
          <p:cNvPr id="33" name="Image 5" descr="/tmp/rasterized-gradient-d8041ff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765" y="2050703"/>
            <a:ext cx="2426940" cy="52000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475065" y="2165003"/>
            <a:ext cx="22423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User Interface</a:t>
            </a:r>
            <a:endParaRPr lang="en-US" sz="750" dirty="0"/>
          </a:p>
        </p:txBody>
      </p:sp>
      <p:sp>
        <p:nvSpPr>
          <p:cNvPr id="35" name="Text 27"/>
          <p:cNvSpPr/>
          <p:nvPr/>
        </p:nvSpPr>
        <p:spPr>
          <a:xfrm>
            <a:off x="6475065" y="2336453"/>
            <a:ext cx="22423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Next.js, Chat Widget, Admin Dashboard</a:t>
            </a:r>
            <a:endParaRPr lang="en-US" sz="675" dirty="0"/>
          </a:p>
        </p:txBody>
      </p:sp>
      <p:pic>
        <p:nvPicPr>
          <p:cNvPr id="36" name="Image 6" descr="/tmp/rasterized-gradient-0196d4c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0765" y="2646908"/>
            <a:ext cx="2426940" cy="52000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75065" y="2761208"/>
            <a:ext cx="22423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ChromaDB</a:t>
            </a:r>
            <a:endParaRPr lang="en-US" sz="750" dirty="0"/>
          </a:p>
        </p:txBody>
      </p:sp>
      <p:sp>
        <p:nvSpPr>
          <p:cNvPr id="38" name="Text 29"/>
          <p:cNvSpPr/>
          <p:nvPr/>
        </p:nvSpPr>
        <p:spPr>
          <a:xfrm>
            <a:off x="6475065" y="2932658"/>
            <a:ext cx="22423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storage, text-embedding-3-small (1536d)</a:t>
            </a:r>
            <a:endParaRPr lang="en-US" sz="675" dirty="0"/>
          </a:p>
        </p:txBody>
      </p:sp>
      <p:pic>
        <p:nvPicPr>
          <p:cNvPr id="39" name="Image 7" descr="/tmp/rasterized-gradient-2181b05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0765" y="3243114"/>
            <a:ext cx="2426940" cy="520005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475065" y="3357414"/>
            <a:ext cx="22423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 PostgreSQL</a:t>
            </a:r>
            <a:endParaRPr lang="en-US" sz="750" dirty="0"/>
          </a:p>
        </p:txBody>
      </p:sp>
      <p:sp>
        <p:nvSpPr>
          <p:cNvPr id="41" name="Text 31"/>
          <p:cNvSpPr/>
          <p:nvPr/>
        </p:nvSpPr>
        <p:spPr>
          <a:xfrm>
            <a:off x="6475065" y="3528864"/>
            <a:ext cx="22423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data, user sessions, document metadata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528638"/>
            <a:ext cx="3061246" cy="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8125" y="238125"/>
            <a:ext cx="312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Engine &amp; Data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8125" y="1191667"/>
            <a:ext cx="42437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Data Pipeline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8125" y="1427857"/>
            <a:ext cx="4160490" cy="28575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52413" y="1427857"/>
            <a:ext cx="0" cy="285750"/>
          </a:xfrm>
          <a:prstGeom prst="line">
            <a:avLst/>
          </a:prstGeom>
          <a:noFill/>
          <a:ln w="28575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950" y="1504057"/>
            <a:ext cx="40202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Document Upload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PDF, DOCX, TXT validation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6520" y="1751707"/>
            <a:ext cx="42437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8125" y="1976438"/>
            <a:ext cx="4160490" cy="285750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2413" y="1976438"/>
            <a:ext cx="0" cy="285750"/>
          </a:xfrm>
          <a:prstGeom prst="line">
            <a:avLst/>
          </a:prstGeom>
          <a:noFill/>
          <a:ln w="28575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950" y="2052637"/>
            <a:ext cx="40202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Text Extraction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PyPDF2, python-docx, markitdown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96520" y="2300288"/>
            <a:ext cx="42437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8125" y="2525018"/>
            <a:ext cx="4160490" cy="28575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2413" y="2525018"/>
            <a:ext cx="0" cy="285750"/>
          </a:xfrm>
          <a:prstGeom prst="line">
            <a:avLst/>
          </a:prstGeom>
          <a:noFill/>
          <a:ln w="28575">
            <a:solidFill>
              <a:srgbClr val="F57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950" y="2601218"/>
            <a:ext cx="40202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Content Rewriting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LLM-based clarity enhancement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96520" y="2848868"/>
            <a:ext cx="42437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8125" y="3073598"/>
            <a:ext cx="4160490" cy="28575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52413" y="3073598"/>
            <a:ext cx="0" cy="285750"/>
          </a:xfrm>
          <a:prstGeom prst="line">
            <a:avLst/>
          </a:prstGeom>
          <a:noFill/>
          <a:ln w="28575">
            <a:solidFill>
              <a:srgbClr val="7B1F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950" y="3149798"/>
            <a:ext cx="40202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Chunking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512 tokens, 50 token overlap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96520" y="3397448"/>
            <a:ext cx="42437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8125" y="3622179"/>
            <a:ext cx="4160490" cy="285750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52413" y="3622179"/>
            <a:ext cx="0" cy="285750"/>
          </a:xfrm>
          <a:prstGeom prst="line">
            <a:avLst/>
          </a:prstGeom>
          <a:noFill/>
          <a:ln w="28575">
            <a:solidFill>
              <a:srgbClr val="FFA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950" y="3698379"/>
            <a:ext cx="40202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Embedding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text-embedding-3-small (1536d)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96520" y="3946029"/>
            <a:ext cx="42437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pic>
        <p:nvPicPr>
          <p:cNvPr id="25" name="Image 0" descr="/tmp/rasterized-gradient-1ed127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4170759"/>
            <a:ext cx="4160490" cy="28575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293675" y="4246959"/>
            <a:ext cx="40493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Storage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541490" y="1353592"/>
            <a:ext cx="42437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RAG Query Process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41490" y="1589782"/>
            <a:ext cx="4160490" cy="285750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4555778" y="1589782"/>
            <a:ext cx="0" cy="285750"/>
          </a:xfrm>
          <a:prstGeom prst="line">
            <a:avLst/>
          </a:prstGeom>
          <a:noFill/>
          <a:ln w="28575">
            <a:solidFill>
              <a:srgbClr val="1565C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65315" y="1665982"/>
            <a:ext cx="40202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Query Processing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User input embedding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499885" y="1913632"/>
            <a:ext cx="42437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541490" y="2138363"/>
            <a:ext cx="4160490" cy="28575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4555778" y="2138363"/>
            <a:ext cx="0" cy="285750"/>
          </a:xfrm>
          <a:prstGeom prst="line">
            <a:avLst/>
          </a:prstGeom>
          <a:noFill/>
          <a:ln w="28575">
            <a:solidFill>
              <a:srgbClr val="1B5E2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65315" y="2214563"/>
            <a:ext cx="40202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Context Retrieval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Similarity search (top-k=5)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499885" y="2462213"/>
            <a:ext cx="42437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541490" y="2686943"/>
            <a:ext cx="4160490" cy="28575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4555778" y="2686943"/>
            <a:ext cx="0" cy="285750"/>
          </a:xfrm>
          <a:prstGeom prst="line">
            <a:avLst/>
          </a:prstGeom>
          <a:noFill/>
          <a:ln w="28575">
            <a:solidFill>
              <a:srgbClr val="7B1FA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65315" y="2763143"/>
            <a:ext cx="40202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Prompt Construction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Context + Query + System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4499885" y="3010793"/>
            <a:ext cx="42437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pic>
        <p:nvPicPr>
          <p:cNvPr id="40" name="Image 1" descr="/tmp/rasterized-gradient-d0b211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490" y="3235523"/>
            <a:ext cx="4160490" cy="28575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4597040" y="3311723"/>
            <a:ext cx="40493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Generation (GPT-4o-mini)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4541490" y="3654623"/>
            <a:ext cx="4160490" cy="639961"/>
          </a:xfrm>
          <a:prstGeom prst="roundRect">
            <a:avLst>
              <a:gd name="adj" fmla="val 893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646265" y="3759398"/>
            <a:ext cx="40299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Konfigurasi LLM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4646265" y="3930848"/>
            <a:ext cx="19761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Informational Mode:</a:t>
            </a:r>
            <a:endParaRPr lang="en-US" sz="675" dirty="0"/>
          </a:p>
        </p:txBody>
      </p:sp>
      <p:sp>
        <p:nvSpPr>
          <p:cNvPr id="45" name="Text 41"/>
          <p:cNvSpPr/>
          <p:nvPr/>
        </p:nvSpPr>
        <p:spPr>
          <a:xfrm>
            <a:off x="4646265" y="4069854"/>
            <a:ext cx="19761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temp=0, max_tokens=1024</a:t>
            </a:r>
            <a:endParaRPr lang="en-US" sz="675" dirty="0"/>
          </a:p>
        </p:txBody>
      </p:sp>
      <p:sp>
        <p:nvSpPr>
          <p:cNvPr id="46" name="Text 42"/>
          <p:cNvSpPr/>
          <p:nvPr/>
        </p:nvSpPr>
        <p:spPr>
          <a:xfrm>
            <a:off x="6659910" y="3930848"/>
            <a:ext cx="19761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Mode:</a:t>
            </a:r>
            <a:endParaRPr lang="en-US" sz="675" dirty="0"/>
          </a:p>
        </p:txBody>
      </p:sp>
      <p:sp>
        <p:nvSpPr>
          <p:cNvPr id="47" name="Text 43"/>
          <p:cNvSpPr/>
          <p:nvPr/>
        </p:nvSpPr>
        <p:spPr>
          <a:xfrm>
            <a:off x="6659910" y="4069854"/>
            <a:ext cx="19761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temp=0.7, max_tokens=500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528638"/>
            <a:ext cx="2680246" cy="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8125" y="238125"/>
            <a:ext cx="2733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Dual Mode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8125" y="1243161"/>
            <a:ext cx="4160490" cy="3161854"/>
          </a:xfrm>
          <a:prstGeom prst="roundRect">
            <a:avLst>
              <a:gd name="adj" fmla="val 3012"/>
            </a:avLst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1475" y="1376511"/>
            <a:ext cx="1616720" cy="260896"/>
          </a:xfrm>
          <a:prstGeom prst="roundRect">
            <a:avLst>
              <a:gd name="adj" fmla="val 21905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5775" y="1433661"/>
            <a:ext cx="1415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MODE INFORMASIONAL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71475" y="1866007"/>
            <a:ext cx="3971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Fungsi:</a:t>
            </a:r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Q&amp;A berbasis RAG dengan knowledge base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71475" y="2208907"/>
            <a:ext cx="3893790" cy="1186755"/>
          </a:xfrm>
          <a:prstGeom prst="roundRect">
            <a:avLst>
              <a:gd name="adj" fmla="val 48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7675" y="2285107"/>
            <a:ext cx="38162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Konfigurasi: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47675" y="2443163"/>
            <a:ext cx="374139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 0 (deterministik)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tokens: 1024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retrieval: 5 dokumen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1475" y="3605213"/>
            <a:ext cx="3893790" cy="666452"/>
          </a:xfrm>
          <a:prstGeom prst="roundRect">
            <a:avLst>
              <a:gd name="adj" fmla="val 857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7675" y="3681413"/>
            <a:ext cx="38162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Interaksi: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47675" y="3839468"/>
            <a:ext cx="3741390" cy="355997"/>
          </a:xfrm>
          <a:prstGeom prst="roundRect">
            <a:avLst>
              <a:gd name="adj" fmla="val 1070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4825" y="3896618"/>
            <a:ext cx="369963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"Apa syarat pendaftaran SD Al-Azhar?"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04825" y="4031754"/>
            <a:ext cx="369963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Bot: "Berdasarkan informasi yang tersedia, syarat pendaftaran SD Al-Azhar meliputi..."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541490" y="1339304"/>
            <a:ext cx="4160490" cy="2969568"/>
          </a:xfrm>
          <a:prstGeom prst="roundRect">
            <a:avLst>
              <a:gd name="adj" fmla="val 3208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74840" y="1472654"/>
            <a:ext cx="1639937" cy="260896"/>
          </a:xfrm>
          <a:prstGeom prst="roundRect">
            <a:avLst>
              <a:gd name="adj" fmla="val 21905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89140" y="1529804"/>
            <a:ext cx="14395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MODE TRANSAKSIONAL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74840" y="1962150"/>
            <a:ext cx="3971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Fungsi:</a:t>
            </a:r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Pendaftaran siswa baru secara interaktif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74840" y="2305050"/>
            <a:ext cx="3893790" cy="474166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51040" y="2381250"/>
            <a:ext cx="38162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Tahap Registrasi: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751040" y="2539305"/>
            <a:ext cx="584448" cy="163711"/>
          </a:xfrm>
          <a:prstGeom prst="roundRect">
            <a:avLst>
              <a:gd name="adj" fmla="val 17455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08190" y="2567880"/>
            <a:ext cx="47955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Siswa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373588" y="2539305"/>
            <a:ext cx="741313" cy="163711"/>
          </a:xfrm>
          <a:prstGeom prst="roundRect">
            <a:avLst>
              <a:gd name="adj" fmla="val 17455"/>
            </a:avLst>
          </a:prstGeom>
          <a:solidFill>
            <a:srgbClr val="9C27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30738" y="2567880"/>
            <a:ext cx="63955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Orang Tua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153001" y="2539305"/>
            <a:ext cx="787896" cy="163711"/>
          </a:xfrm>
          <a:prstGeom prst="roundRect">
            <a:avLst>
              <a:gd name="adj" fmla="val 17455"/>
            </a:avLst>
          </a:prstGeom>
          <a:solidFill>
            <a:srgbClr val="AB47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10151" y="2567880"/>
            <a:ext cx="6870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Upload Dokumen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978997" y="2539305"/>
            <a:ext cx="558998" cy="163711"/>
          </a:xfrm>
          <a:prstGeom prst="roundRect">
            <a:avLst>
              <a:gd name="adj" fmla="val 17455"/>
            </a:avLst>
          </a:prstGeom>
          <a:solidFill>
            <a:srgbClr val="BA68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036147" y="2567880"/>
            <a:ext cx="4535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Konfirmasi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674840" y="2988766"/>
            <a:ext cx="3893790" cy="1186755"/>
          </a:xfrm>
          <a:prstGeom prst="roundRect">
            <a:avLst>
              <a:gd name="adj" fmla="val 48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51040" y="3064966"/>
            <a:ext cx="38162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Validasi: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751040" y="3223022"/>
            <a:ext cx="374139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input (nama, email, telepon)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wajib (akta, KK, foto)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Multi-field edit dalam satu langkah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38125" y="4718745"/>
            <a:ext cx="8667750" cy="253305"/>
          </a:xfrm>
          <a:prstGeom prst="roundRect">
            <a:avLst>
              <a:gd name="adj" fmla="val 22562"/>
            </a:avLst>
          </a:prstGeom>
          <a:solidFill>
            <a:srgbClr val="FFF8E1"/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77749" y="4785420"/>
            <a:ext cx="85885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Conversation Orchestrator:</a:t>
            </a:r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Seamless switching antara mode dalam satu sesi percakapan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528638"/>
            <a:ext cx="2362646" cy="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8125" y="238125"/>
            <a:ext cx="24098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Pengguna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89" y="2027188"/>
            <a:ext cx="282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 Widget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38125" y="2230934"/>
            <a:ext cx="2773561" cy="1390055"/>
          </a:xfrm>
          <a:prstGeom prst="roundRect">
            <a:avLst>
              <a:gd name="adj" fmla="val 6852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2425" y="2345234"/>
            <a:ext cx="2544961" cy="220861"/>
          </a:xfrm>
          <a:prstGeom prst="roundRect">
            <a:avLst>
              <a:gd name="adj" fmla="val 3450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9575" y="2402384"/>
            <a:ext cx="247927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syarat masuk SMP Al-Azhar?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352425" y="2623245"/>
            <a:ext cx="2544961" cy="327422"/>
          </a:xfrm>
          <a:prstGeom prst="roundRect">
            <a:avLst>
              <a:gd name="adj" fmla="val 2327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9575" y="2680395"/>
            <a:ext cx="247927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Syarat pendaftaran SMP Al-Azhar meliputi: 1) Fotokopi akta kelahiran, 2) Kartu keluarga...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352425" y="3007816"/>
            <a:ext cx="2544961" cy="220861"/>
          </a:xfrm>
          <a:prstGeom prst="roundRect">
            <a:avLst>
              <a:gd name="adj" fmla="val 3450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9575" y="3064966"/>
            <a:ext cx="247927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ingin mendaftar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52425" y="3285827"/>
            <a:ext cx="2544961" cy="220861"/>
          </a:xfrm>
          <a:prstGeom prst="roundRect">
            <a:avLst>
              <a:gd name="adj" fmla="val 34501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9575" y="3342977"/>
            <a:ext cx="247927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Baik, saya akan membantu proses pendaftaran. Silakan isi data siswa...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098250" y="1900535"/>
            <a:ext cx="282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Form Registrasi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125986" y="2104281"/>
            <a:ext cx="2773561" cy="1643509"/>
          </a:xfrm>
          <a:prstGeom prst="roundRect">
            <a:avLst>
              <a:gd name="adj" fmla="val 5796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69816" y="2218581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23543" y="2251025"/>
            <a:ext cx="651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979366" y="2332881"/>
            <a:ext cx="190500" cy="1905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07966" y="2218581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72409" y="2251025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417516" y="2332881"/>
            <a:ext cx="190500" cy="190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46116" y="2218581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10559" y="2251025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855666" y="2332881"/>
            <a:ext cx="190500" cy="190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84266" y="2218581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48709" y="2251025"/>
            <a:ext cx="43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240286" y="2466231"/>
            <a:ext cx="25958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Orang Tua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3240286" y="2643336"/>
            <a:ext cx="2544961" cy="304651"/>
          </a:xfrm>
          <a:prstGeom prst="roundRect">
            <a:avLst>
              <a:gd name="adj" fmla="val 1250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06961" y="2690961"/>
            <a:ext cx="245984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Ayah</a:t>
            </a:r>
            <a:endParaRPr lang="en-US" sz="525" dirty="0"/>
          </a:p>
        </p:txBody>
      </p:sp>
      <p:sp>
        <p:nvSpPr>
          <p:cNvPr id="30" name="Text 28"/>
          <p:cNvSpPr/>
          <p:nvPr/>
        </p:nvSpPr>
        <p:spPr>
          <a:xfrm>
            <a:off x="3306961" y="2793802"/>
            <a:ext cx="245984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Ahmad Suryanto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240286" y="2986088"/>
            <a:ext cx="2544961" cy="304651"/>
          </a:xfrm>
          <a:prstGeom prst="roundRect">
            <a:avLst>
              <a:gd name="adj" fmla="val 1250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306961" y="3033713"/>
            <a:ext cx="245984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Telepon</a:t>
            </a:r>
            <a:endParaRPr lang="en-US" sz="525" dirty="0"/>
          </a:p>
        </p:txBody>
      </p:sp>
      <p:sp>
        <p:nvSpPr>
          <p:cNvPr id="33" name="Text 31"/>
          <p:cNvSpPr/>
          <p:nvPr/>
        </p:nvSpPr>
        <p:spPr>
          <a:xfrm>
            <a:off x="3306961" y="3136553"/>
            <a:ext cx="245984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081234567890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3240286" y="3328839"/>
            <a:ext cx="2544961" cy="304651"/>
          </a:xfrm>
          <a:prstGeom prst="roundRect">
            <a:avLst>
              <a:gd name="adj" fmla="val 1250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06961" y="3376464"/>
            <a:ext cx="245984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525" dirty="0"/>
          </a:p>
        </p:txBody>
      </p:sp>
      <p:sp>
        <p:nvSpPr>
          <p:cNvPr id="36" name="Text 34"/>
          <p:cNvSpPr/>
          <p:nvPr/>
        </p:nvSpPr>
        <p:spPr>
          <a:xfrm>
            <a:off x="3306961" y="3479304"/>
            <a:ext cx="245984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ahmad@email.com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5986111" y="1935659"/>
            <a:ext cx="282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Admin Dashboard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6013847" y="2139404"/>
            <a:ext cx="2773561" cy="1573113"/>
          </a:xfrm>
          <a:prstGeom prst="roundRect">
            <a:avLst>
              <a:gd name="adj" fmla="val 6055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28147" y="2253704"/>
            <a:ext cx="1243905" cy="403771"/>
          </a:xfrm>
          <a:prstGeom prst="roundRect">
            <a:avLst>
              <a:gd name="adj" fmla="val 9436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74001" y="2310854"/>
            <a:ext cx="11521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4001" y="2507010"/>
            <a:ext cx="115219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Pendaftar</a:t>
            </a:r>
            <a:endParaRPr lang="en-US" sz="525" dirty="0"/>
          </a:p>
        </p:txBody>
      </p:sp>
      <p:sp>
        <p:nvSpPr>
          <p:cNvPr id="42" name="Text 40"/>
          <p:cNvSpPr/>
          <p:nvPr/>
        </p:nvSpPr>
        <p:spPr>
          <a:xfrm>
            <a:off x="7429202" y="2253704"/>
            <a:ext cx="1243905" cy="403771"/>
          </a:xfrm>
          <a:prstGeom prst="roundRect">
            <a:avLst>
              <a:gd name="adj" fmla="val 943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475056" y="2310854"/>
            <a:ext cx="11521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475056" y="2507010"/>
            <a:ext cx="115219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Diproses</a:t>
            </a:r>
            <a:endParaRPr lang="en-US" sz="525" dirty="0"/>
          </a:p>
        </p:txBody>
      </p:sp>
      <p:sp>
        <p:nvSpPr>
          <p:cNvPr id="45" name="Text 43"/>
          <p:cNvSpPr/>
          <p:nvPr/>
        </p:nvSpPr>
        <p:spPr>
          <a:xfrm>
            <a:off x="6128147" y="2733675"/>
            <a:ext cx="2544961" cy="352276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94822" y="2800350"/>
            <a:ext cx="245984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194822" y="2925961"/>
            <a:ext cx="245984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dokumen • 1,842 chunks</a:t>
            </a:r>
            <a:endParaRPr lang="en-US" sz="525" dirty="0"/>
          </a:p>
        </p:txBody>
      </p:sp>
      <p:sp>
        <p:nvSpPr>
          <p:cNvPr id="48" name="Text 46"/>
          <p:cNvSpPr/>
          <p:nvPr/>
        </p:nvSpPr>
        <p:spPr>
          <a:xfrm>
            <a:off x="6128147" y="3143101"/>
            <a:ext cx="2544961" cy="455116"/>
          </a:xfrm>
          <a:prstGeom prst="roundRect">
            <a:avLst>
              <a:gd name="adj" fmla="val 83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194822" y="3209776"/>
            <a:ext cx="245984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Terbaru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194822" y="3335387"/>
            <a:ext cx="245984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Panduan_PPDB_2026.pdf</a:t>
            </a:r>
            <a:endParaRPr lang="en-US" sz="525" dirty="0"/>
          </a:p>
        </p:txBody>
      </p:sp>
      <p:sp>
        <p:nvSpPr>
          <p:cNvPr id="51" name="Text 49"/>
          <p:cNvSpPr/>
          <p:nvPr/>
        </p:nvSpPr>
        <p:spPr>
          <a:xfrm>
            <a:off x="6194822" y="3438227"/>
            <a:ext cx="245984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Biaya_Pendidikan.docx</a:t>
            </a:r>
            <a:endParaRPr lang="en-US" sz="5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528638"/>
            <a:ext cx="1702296" cy="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8125" y="238125"/>
            <a:ext cx="1736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Pengujian</a:t>
            </a:r>
            <a:endParaRPr lang="en-US" sz="1800" dirty="0"/>
          </a:p>
        </p:txBody>
      </p:sp>
      <p:pic>
        <p:nvPicPr>
          <p:cNvPr id="4" name="Image 0" descr="/tmp/rasterized-gradient-117c1a6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1412677"/>
            <a:ext cx="2773561" cy="12913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1475" y="1546027"/>
            <a:ext cx="25569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Unit Testing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371475" y="1768822"/>
            <a:ext cx="25569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71475" y="1959322"/>
            <a:ext cx="2506861" cy="611386"/>
          </a:xfrm>
          <a:prstGeom prst="roundRect">
            <a:avLst>
              <a:gd name="adj" fmla="val 9348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24130" y="2035522"/>
            <a:ext cx="24015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24130" y="2374553"/>
            <a:ext cx="240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675" dirty="0"/>
          </a:p>
        </p:txBody>
      </p:sp>
      <p:pic>
        <p:nvPicPr>
          <p:cNvPr id="10" name="Image 1" descr="/tmp/rasterized-gradient-7132aa6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986" y="1412677"/>
            <a:ext cx="2773561" cy="12913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59336" y="1546027"/>
            <a:ext cx="25569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Integration Testing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3259336" y="1768822"/>
            <a:ext cx="25569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Switching, Form, Upload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3259336" y="1959322"/>
            <a:ext cx="2506861" cy="611386"/>
          </a:xfrm>
          <a:prstGeom prst="roundRect">
            <a:avLst>
              <a:gd name="adj" fmla="val 9348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311991" y="2035522"/>
            <a:ext cx="24015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311991" y="2374553"/>
            <a:ext cx="240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675" dirty="0"/>
          </a:p>
        </p:txBody>
      </p:sp>
      <p:pic>
        <p:nvPicPr>
          <p:cNvPr id="16" name="Image 2" descr="/tmp/rasterized-gradient-ad3e88d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847" y="1412677"/>
            <a:ext cx="2773561" cy="12913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47197" y="1546027"/>
            <a:ext cx="25569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Functional Testing</a:t>
            </a:r>
            <a:endParaRPr lang="en-US" sz="825" dirty="0"/>
          </a:p>
        </p:txBody>
      </p:sp>
      <p:sp>
        <p:nvSpPr>
          <p:cNvPr id="18" name="Text 13"/>
          <p:cNvSpPr/>
          <p:nvPr/>
        </p:nvSpPr>
        <p:spPr>
          <a:xfrm>
            <a:off x="6147197" y="1768822"/>
            <a:ext cx="25569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Handling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6147197" y="1959322"/>
            <a:ext cx="2506861" cy="611386"/>
          </a:xfrm>
          <a:prstGeom prst="roundRect">
            <a:avLst>
              <a:gd name="adj" fmla="val 9348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199852" y="2035522"/>
            <a:ext cx="24015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199852" y="2374553"/>
            <a:ext cx="240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675" dirty="0"/>
          </a:p>
        </p:txBody>
      </p:sp>
      <p:sp>
        <p:nvSpPr>
          <p:cNvPr id="22" name="Text 17"/>
          <p:cNvSpPr/>
          <p:nvPr/>
        </p:nvSpPr>
        <p:spPr>
          <a:xfrm>
            <a:off x="238125" y="2818358"/>
            <a:ext cx="8667750" cy="1417290"/>
          </a:xfrm>
          <a:prstGeom prst="roundRect">
            <a:avLst>
              <a:gd name="adj" fmla="val 6721"/>
            </a:avLst>
          </a:prstGeom>
          <a:solidFill>
            <a:srgbClr val="FFF8E1"/>
          </a:solidFill>
          <a:ln w="19050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306895" y="2970758"/>
            <a:ext cx="8530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RAG Performance Metrics</a:t>
            </a:r>
            <a:endParaRPr lang="en-US" sz="900" dirty="0"/>
          </a:p>
        </p:txBody>
      </p:sp>
      <p:pic>
        <p:nvPicPr>
          <p:cNvPr id="24" name="Image 3" descr="/tmp/rasterized-gradient-e96efac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125" y="3225998"/>
            <a:ext cx="666750" cy="6667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33741" y="3439418"/>
            <a:ext cx="44736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2517458" y="3949898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750" dirty="0"/>
          </a:p>
        </p:txBody>
      </p:sp>
      <p:pic>
        <p:nvPicPr>
          <p:cNvPr id="27" name="Image 4" descr="/tmp/rasterized-gradient-9f9ce77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75" y="3225998"/>
            <a:ext cx="666750" cy="6667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539719" y="3439418"/>
            <a:ext cx="3500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3374708" y="3949898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750" dirty="0"/>
          </a:p>
        </p:txBody>
      </p:sp>
      <p:pic>
        <p:nvPicPr>
          <p:cNvPr id="30" name="Image 5" descr="/tmp/rasterized-gradient-0640a60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625" y="3225998"/>
            <a:ext cx="666750" cy="6667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323953" y="3439418"/>
            <a:ext cx="49594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97.4%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4231958" y="3949898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750" dirty="0"/>
          </a:p>
        </p:txBody>
      </p:sp>
      <p:pic>
        <p:nvPicPr>
          <p:cNvPr id="33" name="Image 6" descr="/tmp/rasterized-gradient-780fb36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5875" y="3225998"/>
            <a:ext cx="666750" cy="66675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307654" y="3439418"/>
            <a:ext cx="24319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5089208" y="3949898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(5.0)</a:t>
            </a:r>
            <a:endParaRPr lang="en-US" sz="750" dirty="0"/>
          </a:p>
        </p:txBody>
      </p:sp>
      <p:pic>
        <p:nvPicPr>
          <p:cNvPr id="36" name="Image 7" descr="/tmp/rasterized-gradient-3c8a729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3125" y="3225998"/>
            <a:ext cx="666750" cy="66675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116177" y="3439418"/>
            <a:ext cx="34049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2.3s</a:t>
            </a:r>
            <a:endParaRPr lang="en-US" sz="1350" dirty="0"/>
          </a:p>
        </p:txBody>
      </p:sp>
      <p:sp>
        <p:nvSpPr>
          <p:cNvPr id="38" name="Text 28"/>
          <p:cNvSpPr/>
          <p:nvPr/>
        </p:nvSpPr>
        <p:spPr>
          <a:xfrm>
            <a:off x="5946458" y="3949898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Response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528638"/>
            <a:ext cx="1740843" cy="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8125" y="238125"/>
            <a:ext cx="17756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Sistem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8125" y="1589931"/>
            <a:ext cx="8667750" cy="1738908"/>
          </a:xfrm>
          <a:prstGeom prst="roundRect">
            <a:avLst>
              <a:gd name="adj" fmla="val 438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8125" y="1589931"/>
            <a:ext cx="8667750" cy="28575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531120" y="1589931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375" y="1666131"/>
            <a:ext cx="2139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Metrik Evaluasi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654600" y="1589931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5822" y="1666131"/>
            <a:ext cx="1806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778079" y="1589931"/>
            <a:ext cx="0" cy="285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9302" y="1666131"/>
            <a:ext cx="1806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012690" y="1666131"/>
            <a:ext cx="18157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38125" y="1875681"/>
            <a:ext cx="8667750" cy="2437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38125" y="2114699"/>
            <a:ext cx="86677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1120" y="1875681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375" y="1932831"/>
            <a:ext cx="21396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Fungsionalitas Mode Informasional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4654600" y="1875681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65822" y="1932831"/>
            <a:ext cx="1806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test pass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6778079" y="1875681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9302" y="1932831"/>
            <a:ext cx="1806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7012690" y="1932831"/>
            <a:ext cx="18157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Tercapai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238125" y="2119461"/>
            <a:ext cx="8667750" cy="24378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38125" y="2358479"/>
            <a:ext cx="86677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31120" y="2119461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375" y="2176611"/>
            <a:ext cx="21396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Fungsionalitas Mode Transaksional</a:t>
            </a:r>
            <a:endParaRPr lang="en-US" sz="675" dirty="0"/>
          </a:p>
        </p:txBody>
      </p:sp>
      <p:sp>
        <p:nvSpPr>
          <p:cNvPr id="26" name="Shape 24"/>
          <p:cNvSpPr/>
          <p:nvPr/>
        </p:nvSpPr>
        <p:spPr>
          <a:xfrm>
            <a:off x="4654600" y="2119461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65822" y="2176611"/>
            <a:ext cx="1806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test pass</a:t>
            </a:r>
            <a:endParaRPr lang="en-US" sz="675" dirty="0"/>
          </a:p>
        </p:txBody>
      </p:sp>
      <p:sp>
        <p:nvSpPr>
          <p:cNvPr id="28" name="Shape 26"/>
          <p:cNvSpPr/>
          <p:nvPr/>
        </p:nvSpPr>
        <p:spPr>
          <a:xfrm>
            <a:off x="6778079" y="2119461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9302" y="2176611"/>
            <a:ext cx="1806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7012690" y="2176611"/>
            <a:ext cx="18157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Tercapai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238125" y="2363242"/>
            <a:ext cx="8667750" cy="2437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38125" y="2602260"/>
            <a:ext cx="86677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31120" y="2363242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375" y="2420392"/>
            <a:ext cx="21396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4654600" y="2363242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65822" y="2420392"/>
            <a:ext cx="1806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detik</a:t>
            </a:r>
            <a:endParaRPr lang="en-US" sz="675" dirty="0"/>
          </a:p>
        </p:txBody>
      </p:sp>
      <p:sp>
        <p:nvSpPr>
          <p:cNvPr id="37" name="Shape 35"/>
          <p:cNvSpPr/>
          <p:nvPr/>
        </p:nvSpPr>
        <p:spPr>
          <a:xfrm>
            <a:off x="6778079" y="2363242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9302" y="2420392"/>
            <a:ext cx="1806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detik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7012690" y="2420392"/>
            <a:ext cx="18157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Tercapai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238125" y="2607022"/>
            <a:ext cx="8667750" cy="24378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238125" y="2846040"/>
            <a:ext cx="86677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31120" y="2607022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375" y="2664172"/>
            <a:ext cx="21396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Precision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4654600" y="2607022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65822" y="2664172"/>
            <a:ext cx="1806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675" dirty="0"/>
          </a:p>
        </p:txBody>
      </p:sp>
      <p:sp>
        <p:nvSpPr>
          <p:cNvPr id="46" name="Shape 44"/>
          <p:cNvSpPr/>
          <p:nvPr/>
        </p:nvSpPr>
        <p:spPr>
          <a:xfrm>
            <a:off x="6778079" y="2607022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89302" y="2664172"/>
            <a:ext cx="1806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7012690" y="2664172"/>
            <a:ext cx="18157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Tercapai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238125" y="2850803"/>
            <a:ext cx="8667750" cy="2437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238125" y="3089821"/>
            <a:ext cx="86677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31120" y="2850803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3375" y="2907953"/>
            <a:ext cx="21396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Recall</a:t>
            </a:r>
            <a:endParaRPr lang="en-US" sz="675" dirty="0"/>
          </a:p>
        </p:txBody>
      </p:sp>
      <p:sp>
        <p:nvSpPr>
          <p:cNvPr id="53" name="Shape 51"/>
          <p:cNvSpPr/>
          <p:nvPr/>
        </p:nvSpPr>
        <p:spPr>
          <a:xfrm>
            <a:off x="4654600" y="2850803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65822" y="2907953"/>
            <a:ext cx="1806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85%</a:t>
            </a:r>
            <a:endParaRPr lang="en-US" sz="675" dirty="0"/>
          </a:p>
        </p:txBody>
      </p:sp>
      <p:sp>
        <p:nvSpPr>
          <p:cNvPr id="55" name="Shape 53"/>
          <p:cNvSpPr/>
          <p:nvPr/>
        </p:nvSpPr>
        <p:spPr>
          <a:xfrm>
            <a:off x="6778079" y="2850803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89302" y="2907953"/>
            <a:ext cx="1806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75" dirty="0"/>
          </a:p>
        </p:txBody>
      </p:sp>
      <p:sp>
        <p:nvSpPr>
          <p:cNvPr id="57" name="Text 55"/>
          <p:cNvSpPr/>
          <p:nvPr/>
        </p:nvSpPr>
        <p:spPr>
          <a:xfrm>
            <a:off x="7012690" y="2907953"/>
            <a:ext cx="18157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Tercapai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238125" y="3094583"/>
            <a:ext cx="8667750" cy="234255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2531120" y="3094583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3375" y="3151733"/>
            <a:ext cx="21396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Quality Score</a:t>
            </a:r>
            <a:endParaRPr lang="en-US" sz="675" dirty="0"/>
          </a:p>
        </p:txBody>
      </p:sp>
      <p:sp>
        <p:nvSpPr>
          <p:cNvPr id="61" name="Shape 59"/>
          <p:cNvSpPr/>
          <p:nvPr/>
        </p:nvSpPr>
        <p:spPr>
          <a:xfrm>
            <a:off x="4654600" y="3094583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65822" y="3151733"/>
            <a:ext cx="1806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4.0/5.0</a:t>
            </a:r>
            <a:endParaRPr lang="en-US" sz="675" dirty="0"/>
          </a:p>
        </p:txBody>
      </p:sp>
      <p:sp>
        <p:nvSpPr>
          <p:cNvPr id="63" name="Shape 61"/>
          <p:cNvSpPr/>
          <p:nvPr/>
        </p:nvSpPr>
        <p:spPr>
          <a:xfrm>
            <a:off x="6778079" y="3094583"/>
            <a:ext cx="0" cy="2342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89302" y="3151733"/>
            <a:ext cx="1806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4.7/5.0</a:t>
            </a:r>
            <a:endParaRPr lang="en-US" sz="675" dirty="0"/>
          </a:p>
        </p:txBody>
      </p:sp>
      <p:sp>
        <p:nvSpPr>
          <p:cNvPr id="65" name="Text 63"/>
          <p:cNvSpPr/>
          <p:nvPr/>
        </p:nvSpPr>
        <p:spPr>
          <a:xfrm>
            <a:off x="7012690" y="3151733"/>
            <a:ext cx="18157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Tercapai</a:t>
            </a:r>
            <a:endParaRPr lang="en-US" sz="675" dirty="0"/>
          </a:p>
        </p:txBody>
      </p:sp>
      <p:pic>
        <p:nvPicPr>
          <p:cNvPr id="66" name="Image 0" descr="/tmp/rasterized-gradient-3830547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2110" y="3424089"/>
            <a:ext cx="965597" cy="634305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3256764" y="3538389"/>
            <a:ext cx="5962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1500" dirty="0"/>
          </a:p>
        </p:txBody>
      </p:sp>
      <p:sp>
        <p:nvSpPr>
          <p:cNvPr id="68" name="Text 65"/>
          <p:cNvSpPr/>
          <p:nvPr/>
        </p:nvSpPr>
        <p:spPr>
          <a:xfrm>
            <a:off x="3256764" y="3824139"/>
            <a:ext cx="5962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Tercapai</a:t>
            </a:r>
            <a:endParaRPr lang="en-US" sz="675" dirty="0"/>
          </a:p>
        </p:txBody>
      </p:sp>
      <p:pic>
        <p:nvPicPr>
          <p:cNvPr id="69" name="Image 1" descr="/tmp/rasterized-gradient-03932d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007" y="3424089"/>
            <a:ext cx="909935" cy="634305"/>
          </a:xfrm>
          <a:prstGeom prst="rect">
            <a:avLst/>
          </a:prstGeom>
        </p:spPr>
      </p:pic>
      <p:sp>
        <p:nvSpPr>
          <p:cNvPr id="70" name="Text 66"/>
          <p:cNvSpPr/>
          <p:nvPr/>
        </p:nvSpPr>
        <p:spPr>
          <a:xfrm>
            <a:off x="4337218" y="3538389"/>
            <a:ext cx="5395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71" name="Text 67"/>
          <p:cNvSpPr/>
          <p:nvPr/>
        </p:nvSpPr>
        <p:spPr>
          <a:xfrm>
            <a:off x="4337218" y="3824139"/>
            <a:ext cx="539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</a:t>
            </a:r>
            <a:endParaRPr lang="en-US" sz="675" dirty="0"/>
          </a:p>
        </p:txBody>
      </p:sp>
      <p:pic>
        <p:nvPicPr>
          <p:cNvPr id="72" name="Image 2" descr="/tmp/rasterized-gradient-7e4d92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242" y="3424089"/>
            <a:ext cx="895648" cy="634305"/>
          </a:xfrm>
          <a:prstGeom prst="rect">
            <a:avLst/>
          </a:prstGeom>
        </p:spPr>
      </p:pic>
      <p:sp>
        <p:nvSpPr>
          <p:cNvPr id="73" name="Text 68"/>
          <p:cNvSpPr/>
          <p:nvPr/>
        </p:nvSpPr>
        <p:spPr>
          <a:xfrm>
            <a:off x="5361596" y="3538389"/>
            <a:ext cx="5249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500" dirty="0"/>
          </a:p>
        </p:txBody>
      </p:sp>
      <p:sp>
        <p:nvSpPr>
          <p:cNvPr id="74" name="Text 69"/>
          <p:cNvSpPr/>
          <p:nvPr/>
        </p:nvSpPr>
        <p:spPr>
          <a:xfrm>
            <a:off x="5361596" y="3824139"/>
            <a:ext cx="52494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6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557213"/>
            <a:ext cx="1403747" cy="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8125" y="238125"/>
            <a:ext cx="14318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1950" dirty="0"/>
          </a:p>
        </p:txBody>
      </p:sp>
      <p:pic>
        <p:nvPicPr>
          <p:cNvPr id="4" name="Image 0" descr="/tmp/rasterized-gradient-e678f2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1828949"/>
            <a:ext cx="304800" cy="3370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3318" y="1904107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38175" y="1828949"/>
            <a:ext cx="8267700" cy="337096"/>
          </a:xfrm>
          <a:prstGeom prst="roundRect">
            <a:avLst>
              <a:gd name="adj" fmla="val 16954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71525" y="1924199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chatbot berbasis LLM dengan arsitektur RAG telah berhasil dikembangkan dan dapat memberikan respons yang akurat berdasarkan knowledge base institusi</a:t>
            </a:r>
            <a:endParaRPr lang="en-US" sz="825" dirty="0"/>
          </a:p>
        </p:txBody>
      </p:sp>
      <p:pic>
        <p:nvPicPr>
          <p:cNvPr id="8" name="Image 1" descr="/tmp/rasterized-gradient-350fee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2242245"/>
            <a:ext cx="304800" cy="3370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3318" y="2317403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38175" y="2242245"/>
            <a:ext cx="8267700" cy="337096"/>
          </a:xfrm>
          <a:prstGeom prst="roundRect">
            <a:avLst>
              <a:gd name="adj" fmla="val 1695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71525" y="2337495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pembelajaran adaptif multimodal berhasil diterapkan dengan incremental embedding untuk pembaruan knowledge base secara otomatis</a:t>
            </a:r>
            <a:endParaRPr lang="en-US" sz="825" dirty="0"/>
          </a:p>
        </p:txBody>
      </p:sp>
      <p:pic>
        <p:nvPicPr>
          <p:cNvPr id="12" name="Image 2" descr="/tmp/rasterized-gradient-b64126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2655540"/>
            <a:ext cx="304800" cy="3370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3318" y="273069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38175" y="2655540"/>
            <a:ext cx="8267700" cy="337096"/>
          </a:xfrm>
          <a:prstGeom prst="roundRect">
            <a:avLst>
              <a:gd name="adj" fmla="val 16954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771525" y="2750790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data pipeline dengan ChromaDB mencapai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100%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95%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menunjukkan efektivitas retrieval yang sangat baik</a:t>
            </a:r>
            <a:endParaRPr lang="en-US" sz="825" dirty="0"/>
          </a:p>
        </p:txBody>
      </p:sp>
      <p:pic>
        <p:nvPicPr>
          <p:cNvPr id="16" name="Image 3" descr="/tmp/rasterized-gradient-aaf7261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3068836"/>
            <a:ext cx="304800" cy="3370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53318" y="3143994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638175" y="3068836"/>
            <a:ext cx="8267700" cy="337096"/>
          </a:xfrm>
          <a:prstGeom prst="roundRect">
            <a:avLst>
              <a:gd name="adj" fmla="val 16954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771525" y="3164086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transaksional untuk pendaftaran siswa baru berfungsi optimal dengan form multi-step, validasi input, dan upload dokumen terintegrasi</a:t>
            </a:r>
            <a:endParaRPr lang="en-US" sz="825" dirty="0"/>
          </a:p>
        </p:txBody>
      </p:sp>
      <p:pic>
        <p:nvPicPr>
          <p:cNvPr id="20" name="Image 4" descr="/tmp/rasterized-gradient-db0754d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" y="3482132"/>
            <a:ext cx="304800" cy="3370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53318" y="3557290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38175" y="3482132"/>
            <a:ext cx="8267700" cy="337096"/>
          </a:xfrm>
          <a:prstGeom prst="roundRect">
            <a:avLst>
              <a:gd name="adj" fmla="val 16954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771525" y="3577382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sistem menunjukkan performa memuaskan dengan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quality 4.7/5.0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 2.3 detik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memenuhi semua target yang ditetapkan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557213"/>
            <a:ext cx="2601069" cy="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8125" y="238125"/>
            <a:ext cx="26530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Saran Pengembangan</a:t>
            </a:r>
            <a:endParaRPr lang="en-US" sz="1950" dirty="0"/>
          </a:p>
        </p:txBody>
      </p:sp>
      <p:pic>
        <p:nvPicPr>
          <p:cNvPr id="4" name="Image 0" descr="/tmp/rasterized-gradient-32c8c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1934766"/>
            <a:ext cx="2773561" cy="8417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1475" y="2068116"/>
            <a:ext cx="255699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71475" y="2338536"/>
            <a:ext cx="25569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371475" y="2523232"/>
            <a:ext cx="25569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Dukungan bahasa Arab dan Inggris untuk jangkauan lebih luas</a:t>
            </a:r>
            <a:endParaRPr lang="en-US" sz="675" dirty="0"/>
          </a:p>
        </p:txBody>
      </p:sp>
      <p:pic>
        <p:nvPicPr>
          <p:cNvPr id="8" name="Image 1" descr="/tmp/rasterized-gradient-f73a0c9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2871788"/>
            <a:ext cx="2773561" cy="8417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1475" y="3005138"/>
            <a:ext cx="255699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71475" y="3275558"/>
            <a:ext cx="25569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Interaction</a:t>
            </a:r>
            <a:endParaRPr lang="en-US" sz="825" dirty="0"/>
          </a:p>
        </p:txBody>
      </p:sp>
      <p:sp>
        <p:nvSpPr>
          <p:cNvPr id="11" name="Text 7"/>
          <p:cNvSpPr/>
          <p:nvPr/>
        </p:nvSpPr>
        <p:spPr>
          <a:xfrm>
            <a:off x="371475" y="3460254"/>
            <a:ext cx="25569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Speech-to-Text dan Text-to-Speech</a:t>
            </a:r>
            <a:endParaRPr lang="en-US" sz="675" dirty="0"/>
          </a:p>
        </p:txBody>
      </p:sp>
      <p:pic>
        <p:nvPicPr>
          <p:cNvPr id="12" name="Image 2" descr="/tmp/rasterized-gradient-4314d12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986" y="1934766"/>
            <a:ext cx="2773561" cy="8417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59336" y="2068116"/>
            <a:ext cx="255699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259336" y="2338536"/>
            <a:ext cx="25569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</a:t>
            </a:r>
            <a:endParaRPr lang="en-US" sz="825" dirty="0"/>
          </a:p>
        </p:txBody>
      </p:sp>
      <p:sp>
        <p:nvSpPr>
          <p:cNvPr id="15" name="Text 10"/>
          <p:cNvSpPr/>
          <p:nvPr/>
        </p:nvSpPr>
        <p:spPr>
          <a:xfrm>
            <a:off x="3259336" y="2523232"/>
            <a:ext cx="25569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sistem pembayaran biaya pendaftaran online</a:t>
            </a:r>
            <a:endParaRPr lang="en-US" sz="675" dirty="0"/>
          </a:p>
        </p:txBody>
      </p:sp>
      <p:pic>
        <p:nvPicPr>
          <p:cNvPr id="16" name="Image 3" descr="/tmp/rasterized-gradient-66d98a7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5986" y="2871788"/>
            <a:ext cx="2773561" cy="8417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259336" y="3005138"/>
            <a:ext cx="255699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259336" y="3275558"/>
            <a:ext cx="25569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</a:t>
            </a:r>
            <a:endParaRPr lang="en-US" sz="825" dirty="0"/>
          </a:p>
        </p:txBody>
      </p:sp>
      <p:sp>
        <p:nvSpPr>
          <p:cNvPr id="19" name="Text 13"/>
          <p:cNvSpPr/>
          <p:nvPr/>
        </p:nvSpPr>
        <p:spPr>
          <a:xfrm>
            <a:off x="3259336" y="3460254"/>
            <a:ext cx="25569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Ekspansi ke WhatsApp, Telegram, dan aplikasi mobile</a:t>
            </a:r>
            <a:endParaRPr lang="en-US" sz="675" dirty="0"/>
          </a:p>
        </p:txBody>
      </p:sp>
      <p:pic>
        <p:nvPicPr>
          <p:cNvPr id="20" name="Image 4" descr="/tmp/rasterized-gradient-9513b90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847" y="1934766"/>
            <a:ext cx="2773561" cy="8417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47197" y="2068116"/>
            <a:ext cx="255699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6147197" y="2338536"/>
            <a:ext cx="25569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</a:t>
            </a:r>
            <a:endParaRPr lang="en-US" sz="825" dirty="0"/>
          </a:p>
        </p:txBody>
      </p:sp>
      <p:sp>
        <p:nvSpPr>
          <p:cNvPr id="23" name="Text 16"/>
          <p:cNvSpPr/>
          <p:nvPr/>
        </p:nvSpPr>
        <p:spPr>
          <a:xfrm>
            <a:off x="6147197" y="2523232"/>
            <a:ext cx="25569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analitik lanjutan untuk insight pengguna</a:t>
            </a:r>
            <a:endParaRPr lang="en-US" sz="675" dirty="0"/>
          </a:p>
        </p:txBody>
      </p:sp>
      <p:pic>
        <p:nvPicPr>
          <p:cNvPr id="24" name="Image 5" descr="/tmp/rasterized-gradient-f0ddf7e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3847" y="2871788"/>
            <a:ext cx="2773561" cy="8417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47197" y="3005138"/>
            <a:ext cx="255699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147197" y="3275558"/>
            <a:ext cx="25569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 Integration</a:t>
            </a:r>
            <a:endParaRPr lang="en-US" sz="825" dirty="0"/>
          </a:p>
        </p:txBody>
      </p:sp>
      <p:sp>
        <p:nvSpPr>
          <p:cNvPr id="27" name="Text 19"/>
          <p:cNvSpPr/>
          <p:nvPr/>
        </p:nvSpPr>
        <p:spPr>
          <a:xfrm>
            <a:off x="6147197" y="3460254"/>
            <a:ext cx="25569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dengan Sistem Informasi Siswa untuk data real-time</a:t>
            </a:r>
            <a:endParaRPr lang="en-US" sz="6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1575" y="1198364"/>
            <a:ext cx="680085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000500" y="1948904"/>
            <a:ext cx="11430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71575" y="2167979"/>
            <a:ext cx="6800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Chatbot Berbasis Large Language Model dengan Retrieval Augmented Generation pada Yayasan Pesantren Islam Al-Azhar Jakarta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71575" y="2853779"/>
            <a:ext cx="68008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71575" y="3078510"/>
            <a:ext cx="68008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NIM: 0102524719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3879" y="3476625"/>
            <a:ext cx="1836093" cy="468511"/>
          </a:xfrm>
          <a:prstGeom prst="roundRect">
            <a:avLst>
              <a:gd name="adj" fmla="val 1626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68690" y="3590925"/>
            <a:ext cx="14064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Tanya Jawab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00025" y="4636889"/>
            <a:ext cx="8743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Studi Teknik Informatika • Fakultas Sains dan Teknologi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200025" y="4785420"/>
            <a:ext cx="8743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Al-Azhar Indonesia • Januari 2026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Chatbot Berbasis LLM dengan RAG pada YPI Al-Azhar Jakarta</dc:title>
  <dc:subject>Sidang Skripsi</dc:subject>
  <dc:creator>Robil</dc:creator>
  <cp:lastModifiedBy>Robil</cp:lastModifiedBy>
  <cp:revision>1</cp:revision>
  <dcterms:created xsi:type="dcterms:W3CDTF">2026-01-25T13:09:56Z</dcterms:created>
  <dcterms:modified xsi:type="dcterms:W3CDTF">2026-01-25T13:09:56Z</dcterms:modified>
</cp:coreProperties>
</file>